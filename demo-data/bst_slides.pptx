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 to lecture 14. Emphasize that binary search trees bridge the gap between fast search and fast dynamic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trade-off matrix. Set up the challenge of dynamic ordered 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Warn against the classic misconception where a grand-child violates the root property while satisfying its immediate parent.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induction proof over tree height. Show that in-order traversal yields sorted output without extra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search and insert trace a single path from root to leaf, touching at most h+1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both cases. Highlight the 18:42 timestamp mark where predecessor/successor discussion concludes.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Carefully illustrate Case 3 successor substitution. Reassure students that successor in right subtree has no left child.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Illustrate degenerate right-skewed tree when inserting presorted sequences. Motivate balancing invariants.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next lecture on AVL and Red-Black trees to test firewall boundary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CS 201: Binary Search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Lecture 14 | Foundations of Hierarchical Data Structures</a:t>
            </a:r>
          </a:p>
          <a:p>
            <a:pPr>
              <a:defRPr sz="1800"/>
            </a:pPr>
            <a:r>
              <a:t>Instructor: Dr. Elena Rostova</a:t>
            </a:r>
          </a:p>
          <a:p>
            <a:pPr>
              <a:defRPr sz="1800"/>
            </a:pPr>
            <a:r>
              <a:t>Term: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Motivation: The Dynamic Search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1. Unsorted Array: O(1) insert at tail, but O(N) linear search.</a:t>
            </a:r>
          </a:p>
          <a:p>
            <a:pPr>
              <a:defRPr sz="1800"/>
            </a:pPr>
            <a:r>
              <a:t>2. Sorted Array: O(log N) binary search, but O(N) insertion/deletion due to element shifting.</a:t>
            </a:r>
          </a:p>
          <a:p>
            <a:pPr>
              <a:defRPr sz="1800"/>
            </a:pPr>
            <a:r>
              <a:t>3. Linked List: O(1) pointer updates, but O(N) sequential search without random access.</a:t>
            </a:r>
          </a:p>
          <a:p>
            <a:pPr>
              <a:defRPr sz="1800"/>
            </a:pPr>
            <a:r>
              <a:t>Goal: Can we achieve O(log N) search and O(log N) updates simultaneously?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The Binary Search Tree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Definition: Let x be any node in tree T.</a:t>
            </a:r>
          </a:p>
          <a:p>
            <a:pPr>
              <a:defRPr sz="1800"/>
            </a:pPr>
            <a:r>
              <a:t>- For any node y in left subtree of x: key(y) &lt; key(x)</a:t>
            </a:r>
          </a:p>
          <a:p>
            <a:pPr>
              <a:defRPr sz="1800"/>
            </a:pPr>
            <a:r>
              <a:t>- For any node y in right subtree of x: key(y) &gt;= key(x)</a:t>
            </a:r>
          </a:p>
          <a:p>
            <a:pPr>
              <a:defRPr sz="1800"/>
            </a:pPr>
            <a:r>
              <a:t>Crucial Insight: This invariant applies globally across all descendant subtrees, not merely immediate children!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In-Order Traversal &amp; Tree Sort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Algorithm InOrder(x):</a:t>
            </a:r>
          </a:p>
          <a:p>
            <a:pPr>
              <a:defRPr sz="1800"/>
            </a:pPr>
            <a:r>
              <a:t>  1. If x != null:</a:t>
            </a:r>
          </a:p>
          <a:p>
            <a:pPr>
              <a:defRPr sz="1800"/>
            </a:pPr>
            <a:r>
              <a:t>  2.   InOrder(x.left)</a:t>
            </a:r>
          </a:p>
          <a:p>
            <a:pPr>
              <a:defRPr sz="1800"/>
            </a:pPr>
            <a:r>
              <a:t>  3.   Print(x.key)</a:t>
            </a:r>
          </a:p>
          <a:p>
            <a:pPr>
              <a:defRPr sz="1800"/>
            </a:pPr>
            <a:r>
              <a:t>  4.   InOrder(x.right)</a:t>
            </a:r>
          </a:p>
          <a:p>
            <a:pPr>
              <a:defRPr sz="1800"/>
            </a:pPr>
            <a:r>
              <a:t>Theorem: In-order traversal visits keys in monotonically non-decreasing sorted order.</a:t>
            </a:r>
          </a:p>
          <a:p>
            <a:pPr>
              <a:defRPr sz="1800"/>
            </a:pPr>
            <a:r>
              <a:t>Time Complexity: Theta(N) visiting each node exactly once.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Search &amp; Insertion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Search(x, k):</a:t>
            </a:r>
          </a:p>
          <a:p>
            <a:pPr>
              <a:defRPr sz="1800"/>
            </a:pPr>
            <a:r>
              <a:t>  - While x != null and k != x.key:</a:t>
            </a:r>
          </a:p>
          <a:p>
            <a:pPr>
              <a:defRPr sz="1800"/>
            </a:pPr>
            <a:r>
              <a:t>      x = x.left if k &lt; x.key else x.right</a:t>
            </a:r>
          </a:p>
          <a:p>
            <a:pPr>
              <a:defRPr sz="1800"/>
            </a:pPr>
            <a:r>
              <a:t>  - Return x (Cost: O(h))</a:t>
            </a:r>
          </a:p>
          <a:p>
            <a:pPr>
              <a:defRPr sz="1800"/>
            </a:pPr>
            <a:r>
              <a:t>Insert(T, z):</a:t>
            </a:r>
          </a:p>
          <a:p>
            <a:pPr>
              <a:defRPr sz="1800"/>
            </a:pPr>
            <a:r>
              <a:t>  - Follow search path with trailing parent pointer y.</a:t>
            </a:r>
          </a:p>
          <a:p>
            <a:pPr>
              <a:defRPr sz="1800"/>
            </a:pPr>
            <a:r>
              <a:t>  - Wire z into y.left or y.right; set z.parent = y.</a:t>
            </a:r>
          </a:p>
          <a:p>
            <a:pPr>
              <a:defRPr sz="1800"/>
            </a:pPr>
            <a:r>
              <a:t>  - Cost: O(h) where h is tree height.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Order Statistics: Min, Max &amp; Successor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Tree-Minimum(x): Follow left pointers until null (leftmost leaf).</a:t>
            </a:r>
          </a:p>
          <a:p>
            <a:pPr>
              <a:defRPr sz="1800"/>
            </a:pPr>
            <a:r>
              <a:t>Tree-Maximum(x): Follow right pointers until null (rightmost leaf).</a:t>
            </a:r>
          </a:p>
          <a:p>
            <a:pPr>
              <a:defRPr sz="1800"/>
            </a:pPr>
            <a:r>
              <a:t>Successor(x): Smallest key strictly greater than x.key:</a:t>
            </a:r>
          </a:p>
          <a:p>
            <a:pPr>
              <a:defRPr sz="1800"/>
            </a:pPr>
            <a:r>
              <a:t>  - Case 1: x has right subtree -&gt; Tree-Minimum(x.right)</a:t>
            </a:r>
          </a:p>
          <a:p>
            <a:pPr>
              <a:defRPr sz="1800"/>
            </a:pPr>
            <a:r>
              <a:t>  - Case 2: x has no right subtree -&gt; lowest ancestor whose left child is an ancestor of 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Deletion: The 3 Structural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Delete(T, z):</a:t>
            </a:r>
          </a:p>
          <a:p>
            <a:pPr>
              <a:defRPr sz="1800"/>
            </a:pPr>
            <a:r>
              <a:t>  - Case 1: z is a leaf -&gt; nullify parent pointer (O(1))</a:t>
            </a:r>
          </a:p>
          <a:p>
            <a:pPr>
              <a:defRPr sz="1800"/>
            </a:pPr>
            <a:r>
              <a:t>  - Case 2: z has single child -&gt; bypass z, link parent to child (O(1))</a:t>
            </a:r>
          </a:p>
          <a:p>
            <a:pPr>
              <a:defRPr sz="1800"/>
            </a:pPr>
            <a:r>
              <a:t>  - Case 3: z has two children -&gt; find successor y in right subtree. Splice y out and replace z with y.</a:t>
            </a:r>
          </a:p>
          <a:p>
            <a:pPr>
              <a:defRPr sz="1800"/>
            </a:pPr>
            <a:r>
              <a:t>Overall Cost: O(h) due to successor search and pointer rewiring.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Complexity &amp; Degenerate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Best/Average Case: Height h = O(log N). Search, Insert, Delete run in O(log N).</a:t>
            </a:r>
          </a:p>
          <a:p>
            <a:pPr>
              <a:defRPr sz="1800"/>
            </a:pPr>
            <a:r>
              <a:t>Worst Case: Inserting sorted keys [1, 2, 3, ..., N] produces a single linear chain of height N-1.</a:t>
            </a:r>
          </a:p>
          <a:p>
            <a:pPr>
              <a:defRPr sz="1800"/>
            </a:pPr>
            <a:r>
              <a:t>Consequence: Worst-case operations degrade to O(N), collapsing BST into an expensive linked list.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Preview: Self-Balancing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The Solution: Enforce dynamic balance invariants via O(1) tree rotations.</a:t>
            </a:r>
          </a:p>
          <a:p>
            <a:pPr>
              <a:defRPr sz="1800"/>
            </a:pPr>
            <a:r>
              <a:t>- AVL Trees: Absolute height difference between left and right subtrees &lt;= 1.</a:t>
            </a:r>
          </a:p>
          <a:p>
            <a:pPr>
              <a:defRPr sz="1800"/>
            </a:pPr>
            <a:r>
              <a:t>- Red-Black Trees: Colored nodes with black-height invariants ensuring height &lt;= 2 * log(N+1).</a:t>
            </a:r>
          </a:p>
          <a:p>
            <a:pPr>
              <a:defRPr sz="1800"/>
            </a:pPr>
            <a:r>
              <a:t>Upcoming: Full coverage in Lecture 15.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